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554" autoAdjust="0"/>
  </p:normalViewPr>
  <p:slideViewPr>
    <p:cSldViewPr snapToGrid="0" snapToObjects="1">
      <p:cViewPr varScale="1">
        <p:scale>
          <a:sx n="64" d="100"/>
          <a:sy n="64" d="100"/>
        </p:scale>
        <p:origin x="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8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yourself: Belal Qatoum, TIA intern at CyberKnight.</a:t>
            </a:r>
          </a:p>
          <a:p>
            <a:r>
              <a:t>Malytic is an AI-powered malware analysis platform I built from scratch during the internship. The core idea: use a large language model (Claude) as the actual analyst engine — not just a label generator, but something that reads raw evidence and reaches its own verdict, just like a senior malware analyst would.</a:t>
            </a:r>
          </a:p>
          <a:p>
            <a:r>
              <a:t>Today I'll walk you through the problem it solves, how it works, and what it's already proven on real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problem is time and scalability. A single piece of malware — particularly a sophisticated one — takes a skilled analyst 4-8 hours to fully triage: static analysis, sandbox review, OSINT on IOCs, writing detection rules, documenting.</a:t>
            </a:r>
          </a:p>
          <a:p>
            <a:r>
              <a:t>SOC teams are drowning in alerts and can't afford that depth on every sample.</a:t>
            </a:r>
          </a:p>
          <a:p>
            <a:r>
              <a:t>Analysis quality is also highly variable — a junior analyst and a senior one will produce very different reports on the same file.</a:t>
            </a:r>
          </a:p>
          <a:p>
            <a:r>
              <a:t>And all of this is manual. Every detection rule. Every IOC extraction. Every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pitch in one sentence: upload a file, get analyst-grade threat intelligence — automatically, in minutes.</a:t>
            </a:r>
          </a:p>
          <a:p>
            <a:r>
              <a:t>The platform runs a 7-phase pipeline where Claude (the LLM) acts as the analyst at every step: it reads raw tool output, interprets what it means, and reaches its own conclusions.</a:t>
            </a:r>
          </a:p>
          <a:p>
            <a:r>
              <a:t>The output isn't just a summary — it's a full report (executive + technical), validated YARA/Sigma/Suricata detection rules, and IOCs already loaded into your Elastic SIEM and ready to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core differentiator. VirusTotal tells you 47/70 engines flag this — you still have to figure out what it does. A sandbox shows you process trees — you still have to interpret them.</a:t>
            </a:r>
          </a:p>
          <a:p>
            <a:r>
              <a:t>Malytic doesn't just ingest tool output and relay it. Claude analyzes the raw evidence itself: it reads the disassembly strings, the sandbox process tree, the OSINT results — and reaches its own verdict before even looking at what the sandbox said. Disagreements between Claude's verdict and the sandbox's are surfaced as a feature, not hidden.</a:t>
            </a:r>
          </a:p>
          <a:p>
            <a:r>
              <a:t>The AI also generates the detection rules and pushes them. End-to-end: no human in the loop for routine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phase briefly:</a:t>
            </a:r>
          </a:p>
          <a:p>
            <a:r>
              <a:t>1. Intake: identifies the TRUE file type (magic bytes, not extension), routes it to the right analysis path (PE/Office/PDF), creates the case file.</a:t>
            </a:r>
          </a:p>
          <a:p>
            <a:r>
              <a:t>2. Static: tool-specific extraction — pefile for PE, oletools for macros, pikepdf for PDF JS. Claude interprets the extracted facts.</a:t>
            </a:r>
          </a:p>
          <a:p>
            <a:r>
              <a:t>3. Dynamic: submits to Triage cloud sandbox, waits for detonation, pulls raw artifacts (process tree, network, registry, files, memory). Claude also reads screenshots with vision.</a:t>
            </a:r>
          </a:p>
          <a:p>
            <a:r>
              <a:t>4. OSINT: researches ALL findings — hashes, domains, IPs, family names — via VirusTotal, web search.</a:t>
            </a:r>
          </a:p>
          <a:p>
            <a:r>
              <a:t>5. Correlation: fuses everything, maps MITRE ATT&amp;CK, attributes conservatively.</a:t>
            </a:r>
          </a:p>
          <a:p>
            <a:r>
              <a:t>6. Detection: generates YARA/Sigma/Suricata rules, validates them, scores IOCs.</a:t>
            </a:r>
          </a:p>
          <a:p>
            <a:r>
              <a:t>7. Report + SIEM: dual report (executive + technical), pushes IOCs and rules into Elastic.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2: static analysis runs without executing the file — pure structural and string analysis.</a:t>
            </a:r>
          </a:p>
          <a:p>
            <a:r>
              <a:t>PE binaries: we extract imports (IAT), sections, resources, run FLOSS for decoded strings, DIE for packer/compiler ID, capa for behavioral capabilities, and YARA for family matches. Claude then interprets: which API imports suggest what capabilities, which strings are C2 artifacts, etc.</a:t>
            </a:r>
          </a:p>
          <a:p>
            <a:r>
              <a:t>Office documents: oletools suite extracts the full VBA macro source. Claude deobfuscates every macro and traces the infection chain.</a:t>
            </a:r>
          </a:p>
          <a:p>
            <a:r>
              <a:t>PDFs: pikepdf walks the entire object graph. We find JavaScript, /OpenAction (runs on open — no click needed), /Launch (OS commands), embedded files, URIs. Claude deobfuscates the JS and identifies the exploit primitive.</a:t>
            </a:r>
          </a:p>
          <a:p>
            <a:r>
              <a:t>All three routes output to the same case file schema. Claude never executes the file — it reasons purely from the extracted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3: dynamic analysis detonates the sample in an isolated cloud VM.</a:t>
            </a:r>
          </a:p>
          <a:p>
            <a:r>
              <a:t>We submit to Triage's cloud sandbox (Windows 10 64-bit environment). When the run completes, we pull back ALL raw artifacts: process tree, network traffic logs, registry changes, file system operations, memory dumps, and screenshots.</a:t>
            </a:r>
          </a:p>
          <a:p>
            <a:r>
              <a:t>Critical design decision: Claude reads the RAW artifacts, not a sandbox summary. We convert them to text and send them directly. Claude forms its own verdict before it sees the sandbox's classification.</a:t>
            </a:r>
          </a:p>
          <a:p>
            <a:r>
              <a:t>The vision feature: Claude also reads the replay screenshots. On the WannaCry run, the ransom note appeared on screen — Claude read the text, extracted the Bitcoin wallet address, and flagged it as ransomware based on visual evidence alone. That's analyst-level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6: detection engineering.</a:t>
            </a:r>
          </a:p>
          <a:p>
            <a:r>
              <a:t>Claude generates three rule types from all prior analysis:</a:t>
            </a:r>
          </a:p>
          <a:p>
            <a:r>
              <a:t>YARA — file-based, anchored on strings Claude found decoded in FLOSS output or confirmed in dynamic analysis. Compiled by yara-python before being accepted.</a:t>
            </a:r>
          </a:p>
          <a:p>
            <a:r>
              <a:t>Sigma — log/behavior rules, targeting the specific process patterns, registry writes, and network connections the sample made. Validated by pySigma.</a:t>
            </a:r>
          </a:p>
          <a:p>
            <a:r>
              <a:t>Suricata — network rules for C2 traffic, DNS queries, HTTP patterns.</a:t>
            </a:r>
          </a:p>
          <a:p>
            <a:endParaRPr/>
          </a:p>
          <a:p>
            <a:r>
              <a:t>Key feature: validation is REAL. Rules are compiled/parsed before being stored. The pipeline also auto-repairs common generation errors (unreferenced YARA strings get renamed with underscore prefix; Sigma YAML colon-in-description errors are automatically quoted before parsing).</a:t>
            </a:r>
          </a:p>
          <a:p>
            <a:endParaRPr/>
          </a:p>
          <a:p>
            <a:r>
              <a:t>SIEM gate: if the verdict is BENIGN, no rules are generated and nothing is pushed. This prevents SIEM pollution from clean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verdict system is three-tier: MALICIOUS, SUSPICIOUS, BENIGN.</a:t>
            </a:r>
          </a:p>
          <a:p>
            <a:r>
              <a:t>Confidence propagates and can only decrease unless a later phase adds new corroborating evidence — so we never artificially inflate confidence.</a:t>
            </a:r>
          </a:p>
          <a:p>
            <a:r>
              <a:t>Key safety proof-point: on a 'clean' notepad binary that had been tampered with, Malytic flagged the forged timestamp. The PE header claimed compilation in 2012, but the import set and string content proved otherwise. A scanner would have passed it as 'benign signed software'.</a:t>
            </a:r>
          </a:p>
          <a:p>
            <a:r>
              <a:t>The platform NEVER executes samples locally. Malware is treated as inert bytes: we hash it, store it outside the web root, and submit to the cloud sandbox. No code in the pipeline runs the sample.</a:t>
            </a:r>
          </a:p>
          <a:p>
            <a:r>
              <a:t>All human-facing IOCs are defanged — hxxp, [.], [@] — so analyst workstations can't accidentally resolve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real malware samples the platform was tested against.</a:t>
            </a:r>
          </a:p>
          <a:p>
            <a:r>
              <a:t>XWorm RAT: correctly identified C2 protocol, persistence mechanism, and keylogger/screenshot capabilities.</a:t>
            </a:r>
          </a:p>
          <a:p>
            <a:r>
              <a:t>VIPKeylogger: caught the AutoIt-based loader, traced process hollowing into explorer.exe, identified the stealer chain.</a:t>
            </a:r>
          </a:p>
          <a:p>
            <a:r>
              <a:t>WannaCry: sandbox showed the ransom screen; Claude read it via vision and extracted the Bitcoin wallet address. This is the AI vision feature.</a:t>
            </a:r>
          </a:p>
          <a:p>
            <a:r>
              <a:t>Office macro downloader: traced the entire download-drop-execute chain — PowerShell command, C2 URL, dropped executable path. Full kill chain.</a:t>
            </a:r>
          </a:p>
          <a:p>
            <a:r>
              <a:t>PDF with JS: deobfuscated the JavaScript, found the /OpenAction auto-execute, identified the phishing URIs and Launch actions.</a:t>
            </a:r>
          </a:p>
          <a:p>
            <a:r>
              <a:t>AgentTesla: credential stealer confirmed, SMTP exfiltration to a Gmail account extracted from the decoded strings.</a:t>
            </a:r>
          </a:p>
          <a:p>
            <a:endParaRPr/>
          </a:p>
          <a:p>
            <a:r>
              <a:t>[INSERT SCREENSHOTS HERE: Report output, SIEM view, detection rule examples]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product UI is a React frontend backed by a FastAPI server.</a:t>
            </a:r>
          </a:p>
          <a:p>
            <a:r>
              <a:t>Upload page: drag and drop (or browse). Supports PE executables, Office documents (.doc/.docx/.docm), and PDFs. File validation on both client and server side.</a:t>
            </a:r>
          </a:p>
          <a:p>
            <a:r>
              <a:t>Live analysis view: once submitted, you watch the 7 phases run in real time. Each phase updates its status (running → complete → failed). You see the case building in real time.</a:t>
            </a:r>
          </a:p>
          <a:p>
            <a:r>
              <a:t>Report: dual-audience output — executive summary (1-2 pages, business language) and full technical report (every IOC, every phase finding, attribution, detection rules).</a:t>
            </a:r>
          </a:p>
          <a:p>
            <a:r>
              <a:t>SIEM: by the time the report is ready, the IOCs are already indexed in Elasticsearch and the detection rules are already loaded in Kibana and alerting.</a:t>
            </a:r>
          </a:p>
          <a:p>
            <a:endParaRPr/>
          </a:p>
          <a:p>
            <a:r>
              <a:t>[INSERT SCREENSHOTS: upload page, live analysis view, report, Kibana dashboard]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design decision: the skills-based architecture.</a:t>
            </a:r>
          </a:p>
          <a:p>
            <a:r>
              <a:t>Each analysis phase loads a SKILL.md file as Claude's system prompt. These files ARE the analyst instructions — they define the output schema, the analysis workflow, the quality standards. No logic is hardcoded in Python; the Python just orchestrates and calls Claude.</a:t>
            </a:r>
          </a:p>
          <a:p>
            <a:r>
              <a:t>This means: improving analysis quality = editing a Markdown file. No redeploy, no code change, no test cycle. The skills evolve independently.</a:t>
            </a:r>
          </a:p>
          <a:p>
            <a:r>
              <a:t>The sandbox integration is via Triage's cloud API. The Playwright bridge is a temporary workaround during the approval period — once the API account is active, it switches automatically via config.</a:t>
            </a:r>
          </a:p>
          <a:p>
            <a:r>
              <a:t>The database is SQLite for development but production-ready: swap DATABASE_URL in .env to PostgreSQL and zero ORM changes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prototype is fully functional. The roadmap has three horizons:</a:t>
            </a:r>
          </a:p>
          <a:p>
            <a:endParaRPr/>
          </a:p>
          <a:p>
            <a:r>
              <a:t>Now (done): complete 7-phase pipeline, all three file types, Elastic SIEM integration, real-sample validation, React dashboard.</a:t>
            </a:r>
          </a:p>
          <a:p>
            <a:endParaRPr/>
          </a:p>
          <a:p>
            <a:r>
              <a:t>Next (production): the main gap is infrastructure. The Triage API account is pending approval — the Playwright bridge covers it today but needs replacing. Persistent Elastic, proper auth, and PostgreSQL are straightforward config changes. The architecture already supports them.</a:t>
            </a:r>
          </a:p>
          <a:p>
            <a:endParaRPr/>
          </a:p>
          <a:p>
            <a:r>
              <a:t>Future (platform): the most interesting direction is the MCP refactor — turning each static analysis tool into an MCP server so Claude can call them natively during analysis rather than having the pipeline pre-run them all. This enables dynamic analysis paths based on what Claude finds. The threat actor graph would cluster IOCs across cases — 'this new sample shares a mutex with 3 previous cases' — building institutional intelligence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Wrap-up.</a:t>
            </a:r>
          </a:p>
          <a:p>
            <a:endParaRPr/>
          </a:p>
          <a:p>
            <a:r>
              <a:t>What Malytic demonstrates:</a:t>
            </a:r>
          </a:p>
          <a:p>
            <a:r>
              <a:t>  — A large language model can serve as a genuine analyst engine, not just a label generator. It reads raw evidence, forms conclusions, and explains its reasoning.</a:t>
            </a:r>
          </a:p>
          <a:p>
            <a:r>
              <a:t>  — The 7-phase pipeline is complete and proven on real malware across three file types.</a:t>
            </a:r>
          </a:p>
          <a:p>
            <a:r>
              <a:t>  — The output is immediately operational: validated rules in your SIEM, defanged IOCs for sharing, dual-audience reports.</a:t>
            </a:r>
          </a:p>
          <a:p>
            <a:endParaRPr/>
          </a:p>
          <a:p>
            <a:r>
              <a:t>The ask for production:</a:t>
            </a:r>
          </a:p>
          <a:p>
            <a:r>
              <a:t>  1. Triage API production account to replace the Playwright bridge.</a:t>
            </a:r>
          </a:p>
          <a:p>
            <a:r>
              <a:t>  2. A persistent Elastic environment (self-hosted or cloud) for the SIEM.</a:t>
            </a:r>
          </a:p>
          <a:p>
            <a:r>
              <a:t>  3. A larger malware corpus to run regression testing at scale.</a:t>
            </a:r>
          </a:p>
          <a:p>
            <a:endParaRPr/>
          </a:p>
          <a:p>
            <a:r>
              <a:t>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" y="9144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" y="18288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" y="27432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" y="36576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" y="45720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" y="54864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" y="64008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2F5FF"/>
                </a:solidFill>
                <a:latin typeface="Calibri"/>
              </a:rPr>
              <a:t>MALYTIC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33472"/>
            <a:ext cx="4389120" cy="54864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9CB3"/>
                </a:solidFill>
                <a:latin typeface="Calibri"/>
              </a:rPr>
              <a:t>AI-Powered Malware Analysis &amp; Threat Intelligence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20440"/>
            <a:ext cx="5943600" cy="2286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5FF"/>
                </a:solidFill>
                <a:latin typeface="Calibri"/>
              </a:rPr>
              <a:t>Belal Qatoum</a:t>
            </a:r>
          </a:p>
          <a:p>
            <a:pPr algn="l"/>
            <a:r>
              <a:rPr sz="1300" b="0">
                <a:solidFill>
                  <a:srgbClr val="8B9CB3"/>
                </a:solidFill>
                <a:latin typeface="Calibri"/>
              </a:rPr>
              <a:t>CyberKnight TIA Internship  · 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097280"/>
            <a:ext cx="2834640" cy="4114800"/>
          </a:xfrm>
          <a:prstGeom prst="rect">
            <a:avLst/>
          </a:prstGeom>
          <a:solidFill>
            <a:srgbClr val="0F1A2E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3A5C"/>
                </a:solidFill>
                <a:latin typeface="Calibri"/>
              </a:rPr>
              <a:t>THREAT
INTELLIGENCE
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754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11D2A"/>
                </a:solidFill>
                <a:latin typeface="Courier New"/>
              </a:rPr>
              <a:t>v1.0  // 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2636443" cy="137160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31673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11D2A"/>
                </a:solidFill>
                <a:latin typeface="Calibri"/>
              </a:rPr>
              <a:t>4–8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95681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CB3"/>
                </a:solidFill>
                <a:latin typeface="Calibri"/>
              </a:rPr>
              <a:t>to triage ONE
malware sample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2243" y="1261872"/>
            <a:ext cx="2636443" cy="137160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5395" y="131673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11D2A"/>
                </a:solidFill>
                <a:latin typeface="Calibri"/>
              </a:rPr>
              <a:t>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5395" y="195681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CB3"/>
                </a:solidFill>
                <a:latin typeface="Calibri"/>
              </a:rPr>
              <a:t>alerts per analyst
per day in a SOC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261872"/>
            <a:ext cx="2636443" cy="137160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6159" y="131673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11D2A"/>
                </a:solidFill>
                <a:latin typeface="Calibri"/>
              </a:rPr>
              <a:t>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6159" y="195681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CB3"/>
                </a:solidFill>
                <a:latin typeface="Calibri"/>
              </a:rPr>
              <a:t>analysis quality
by analyst seniority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3771" y="1261872"/>
            <a:ext cx="2636443" cy="137160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6923" y="131673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11D2A"/>
                </a:solidFill>
                <a:latin typeface="Calibri"/>
              </a:rPr>
              <a:t>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6923" y="1956816"/>
            <a:ext cx="24901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CB3"/>
                </a:solidFill>
                <a:latin typeface="Calibri"/>
              </a:rPr>
              <a:t>every detection rule
written by hand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34640"/>
            <a:ext cx="5592927" cy="365760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999232"/>
            <a:ext cx="519059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>
                <a:solidFill>
                  <a:srgbClr val="F2F5FF"/>
                </a:solidFill>
                <a:latin typeface="Calibri"/>
              </a:rPr>
              <a:t>▸  Malware triage requires deep, specialist knowledge — hard to scale</a:t>
            </a:r>
          </a:p>
          <a:p>
            <a:pPr algn="l"/>
            <a:r>
              <a:rPr sz="1450">
                <a:solidFill>
                  <a:srgbClr val="F2F5FF"/>
                </a:solidFill>
                <a:latin typeface="Calibri"/>
              </a:rPr>
              <a:t>▸  Dynamic analysis sandbox reports are dense and ambiguous — someone must read them</a:t>
            </a:r>
          </a:p>
          <a:p>
            <a:pPr algn="l"/>
            <a:r>
              <a:rPr sz="1450">
                <a:solidFill>
                  <a:srgbClr val="F2F5FF"/>
                </a:solidFill>
                <a:latin typeface="Calibri"/>
              </a:rPr>
              <a:t>▸  Analysts spend hours on IOC extraction, rule writing, SIEM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2834640"/>
            <a:ext cx="5592927" cy="365760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8455" y="2999232"/>
            <a:ext cx="519059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>
                <a:solidFill>
                  <a:srgbClr val="F2F5FF"/>
                </a:solidFill>
                <a:latin typeface="Calibri"/>
              </a:rPr>
              <a:t>▸  Threat intel stays in PDFs and analyst heads — not machine-consumable</a:t>
            </a:r>
          </a:p>
          <a:p>
            <a:pPr algn="l"/>
            <a:r>
              <a:rPr sz="1450">
                <a:solidFill>
                  <a:srgbClr val="F2F5FF"/>
                </a:solidFill>
                <a:latin typeface="Calibri"/>
              </a:rPr>
              <a:t>▸  Detection rules are written manually, inconsistently, one at a time</a:t>
            </a:r>
          </a:p>
          <a:p>
            <a:pPr algn="l"/>
            <a:r>
              <a:rPr sz="1450">
                <a:solidFill>
                  <a:srgbClr val="F2F5FF"/>
                </a:solidFill>
                <a:latin typeface="Calibri"/>
              </a:rPr>
              <a:t>▸  New file types (Office macros, PDFs) require different toolchains and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11368735" cy="1463040"/>
          </a:xfrm>
          <a:prstGeom prst="rect">
            <a:avLst/>
          </a:prstGeom>
          <a:solidFill>
            <a:srgbClr val="1C080B"/>
          </a:solidFill>
          <a:ln w="2540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200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2F5FF"/>
                </a:solidFill>
                <a:latin typeface="Calibri"/>
              </a:rPr>
              <a:t>Malytic does what a senior malware analyst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11D2A"/>
                </a:solidFill>
                <a:latin typeface="Calibri"/>
              </a:rPr>
              <a:t>Automatically.  In minutes.  Every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71800"/>
            <a:ext cx="3606698" cy="3520440"/>
          </a:xfrm>
          <a:prstGeom prst="rect">
            <a:avLst/>
          </a:prstGeom>
          <a:solidFill>
            <a:srgbClr val="152440"/>
          </a:solidFill>
          <a:ln w="15240">
            <a:solidFill>
              <a:srgbClr val="8B9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090672"/>
            <a:ext cx="33323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11D2A"/>
                </a:solidFill>
                <a:latin typeface="Calibri"/>
              </a:rPr>
              <a:t>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3661" y="3547872"/>
            <a:ext cx="402336" cy="402336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3661" y="35478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2F5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324093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B9CB3"/>
                </a:solidFill>
                <a:latin typeface="Calibri"/>
              </a:rPr>
              <a:t>Drop a PE binary, Office
document, or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6466" y="438912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2498" y="2971800"/>
            <a:ext cx="3606698" cy="3520440"/>
          </a:xfrm>
          <a:prstGeom prst="rect">
            <a:avLst/>
          </a:prstGeom>
          <a:solidFill>
            <a:srgbClr val="152440"/>
          </a:solidFill>
          <a:ln w="15240">
            <a:solidFill>
              <a:srgbClr val="8B9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9658" y="3090672"/>
            <a:ext cx="33323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11D2A"/>
                </a:solidFill>
                <a:latin typeface="Calibri"/>
              </a:rPr>
              <a:t>ANALYZE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4679" y="3547872"/>
            <a:ext cx="402336" cy="402336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4679" y="35478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2F5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378" y="4114800"/>
            <a:ext cx="324093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B9CB3"/>
                </a:solidFill>
                <a:latin typeface="Calibri"/>
              </a:rPr>
              <a:t>7-phase AI pipeline:
static → sandbox → OSINT
→ correlation →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7484" y="4389120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3516" y="2971800"/>
            <a:ext cx="3606698" cy="3520440"/>
          </a:xfrm>
          <a:prstGeom prst="rect">
            <a:avLst/>
          </a:prstGeom>
          <a:solidFill>
            <a:srgbClr val="1A080C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0676" y="3090672"/>
            <a:ext cx="33323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11D2A"/>
                </a:solidFill>
                <a:latin typeface="Calibri"/>
              </a:rPr>
              <a:t>DELIVER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75697" y="3547872"/>
            <a:ext cx="402336" cy="402336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75697" y="35478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2F5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396" y="4114800"/>
            <a:ext cx="324093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B9CB3"/>
                </a:solidFill>
                <a:latin typeface="Calibri"/>
              </a:rPr>
              <a:t>Full threat-intel report
+ YARA/Sigma/Suricata rules
+ IOCs in Elastic SIEM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AI as the Analyst — Not Just a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5592927" cy="521208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2271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9CB3"/>
                </a:solidFill>
                <a:latin typeface="Calibri"/>
              </a:rPr>
              <a:t>Traditional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2271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840"/>
                </a:solidFill>
                <a:latin typeface="Calibri"/>
              </a:rPr>
              <a:t>VirusTotal  ·  Sandboxes  ·  Manual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57400"/>
            <a:ext cx="5227167" cy="18288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5410047" cy="416052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313432"/>
            <a:ext cx="5007711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Returns raw data — you interpret it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Verdicts from signature matching only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Sandbox shows process tree — no story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You write detection rules manually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Analysis depth varies by analyst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No SIEM integration out of the box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Can't explain WHY something is malicious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261872"/>
            <a:ext cx="5592927" cy="5212080"/>
          </a:xfrm>
          <a:prstGeom prst="rect">
            <a:avLst/>
          </a:prstGeom>
          <a:solidFill>
            <a:srgbClr val="152440"/>
          </a:solidFill>
          <a:ln w="1905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0167" y="1371600"/>
            <a:ext cx="52271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1737360"/>
            <a:ext cx="52271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Claude (LLM) as the analyst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2057400"/>
            <a:ext cx="5227167" cy="18288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9895" y="2176272"/>
            <a:ext cx="519059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AI reaches its OWN verdict — tools only extract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Cross-checks sandbox verdict against AI analysis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Traces the full attack chain end-to-end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Generates + validates YARA, Sigma, Suricata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Consistent depth regardless of analyst skill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Auto-pushes IOCs + rules into Elastic SIEM</a:t>
            </a:r>
          </a:p>
          <a:p>
            <a:pPr algn="l"/>
            <a:r>
              <a:rPr sz="1350">
                <a:solidFill>
                  <a:srgbClr val="F2F5FF"/>
                </a:solidFill>
                <a:latin typeface="Calibri"/>
              </a:rPr>
              <a:t>▸  Explains its reasoning — shows the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7-Phase Analysis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11368735" cy="384048"/>
          </a:xfrm>
          <a:prstGeom prst="rect">
            <a:avLst/>
          </a:prstGeom>
          <a:solidFill>
            <a:srgbClr val="1A0609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E11D2A"/>
                </a:solidFill>
                <a:latin typeface="Calibri"/>
              </a:rPr>
              <a:t>Claude (LLM) interprets at every phase  ·  Tools and sandbox only extract and execute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883" y="1874519"/>
            <a:ext cx="1417320" cy="2286000"/>
          </a:xfrm>
          <a:prstGeom prst="rect">
            <a:avLst/>
          </a:prstGeom>
          <a:solidFill>
            <a:srgbClr val="152440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883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Intake &amp;
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File type
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5347" y="2834639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1651" y="1874519"/>
            <a:ext cx="1417320" cy="2286000"/>
          </a:xfrm>
          <a:prstGeom prst="rect">
            <a:avLst/>
          </a:prstGeom>
          <a:solidFill>
            <a:srgbClr val="152440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1651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6515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Static
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6515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pefile · FLOSS
olevba · pikepdf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2834639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4419" y="1874519"/>
            <a:ext cx="1417320" cy="2286000"/>
          </a:xfrm>
          <a:prstGeom prst="rect">
            <a:avLst/>
          </a:prstGeom>
          <a:solidFill>
            <a:srgbClr val="152440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4419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9283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Dynamic
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9283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Triage sandbox
+ 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0883" y="2834639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7187" y="1874519"/>
            <a:ext cx="1417320" cy="2286000"/>
          </a:xfrm>
          <a:prstGeom prst="rect">
            <a:avLst/>
          </a:prstGeom>
          <a:solidFill>
            <a:srgbClr val="152440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87187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2051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OSINT
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2051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VT · web search
IOC 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3651" y="2834639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9955" y="1874519"/>
            <a:ext cx="1417320" cy="2286000"/>
          </a:xfrm>
          <a:prstGeom prst="rect">
            <a:avLst/>
          </a:prstGeom>
          <a:solidFill>
            <a:srgbClr val="152440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59955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4819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Correlation &amp;
Attribution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4819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MITRE map
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6419" y="2834639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32723" y="1874519"/>
            <a:ext cx="1417320" cy="2286000"/>
          </a:xfrm>
          <a:prstGeom prst="rect">
            <a:avLst/>
          </a:prstGeom>
          <a:solidFill>
            <a:srgbClr val="152440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32723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7587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Detection
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7587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YARA · Sigma
Suricata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9187" y="2834639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11D2A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5491" y="1874519"/>
            <a:ext cx="1417320" cy="2286000"/>
          </a:xfrm>
          <a:prstGeom prst="rect">
            <a:avLst/>
          </a:prstGeom>
          <a:solidFill>
            <a:srgbClr val="1A0609"/>
          </a:solidFill>
          <a:ln w="1778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5491" y="1965959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2A"/>
                </a:solidFill>
                <a:latin typeface="Courier New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0355" y="2221991"/>
            <a:ext cx="1307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2F5FF"/>
                </a:solidFill>
                <a:latin typeface="Calibri"/>
              </a:rPr>
              <a:t>Report +
SIEM Push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0355" y="2990087"/>
            <a:ext cx="13075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CB3"/>
                </a:solidFill>
                <a:latin typeface="Calibri"/>
              </a:rPr>
              <a:t>Dual report
Elastic ingest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389120"/>
            <a:ext cx="11368735" cy="54864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462272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B9CB3"/>
                </a:solidFill>
                <a:latin typeface="Calibri"/>
              </a:rPr>
              <a:t>Case file grows through every phase  ·  Prior phases inform later ones  ·  Never overwrites — only appends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047488"/>
            <a:ext cx="11368735" cy="1536192"/>
          </a:xfrm>
          <a:prstGeom prst="rect">
            <a:avLst/>
          </a:prstGeom>
          <a:solidFill>
            <a:srgbClr val="071424"/>
          </a:solidFill>
          <a:ln w="10160">
            <a:solidFill>
              <a:srgbClr val="1A4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5138928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9AFF"/>
                </a:solidFill>
                <a:latin typeface="Calibri"/>
              </a:rPr>
              <a:t>ELASTIC SIEM  →  IOCs indexed · Sigma rules loaded as detection rules · Kibana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55955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ECS threat.* fields  ·  KQL detection rules via Kibana Detections API  ·  pySigma translation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1D2A"/>
                </a:solidFill>
                <a:latin typeface="Calibri"/>
              </a:rPr>
              <a:t>PHASE DEEP-DIVE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Static Analysis — Three File Types, One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3606698" cy="5257800"/>
          </a:xfrm>
          <a:prstGeom prst="rect">
            <a:avLst/>
          </a:prstGeom>
          <a:solidFill>
            <a:srgbClr val="152440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3323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2A"/>
                </a:solidFill>
                <a:latin typeface="Courier New"/>
              </a:rPr>
              <a:t>PE BINARIES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3332378" cy="20116"/>
          </a:xfrm>
          <a:prstGeom prst="rect">
            <a:avLst/>
          </a:prstGeom>
          <a:solidFill>
            <a:srgbClr val="5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92224"/>
            <a:ext cx="333237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pefile  — imports, sections, resources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FLOSS   — decoded / flossed strings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DIE     — packer / compiler detection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capa    — capability detection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YARA    — family signature matching</a:t>
            </a:r>
          </a:p>
          <a:p>
            <a:pPr algn="l"/>
            <a:endParaRPr sz="1200">
              <a:solidFill>
                <a:srgbClr val="F2F5FF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AI reads: imports → capability inference,
strings → C2/decoy detection,
section entropy → packing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61872"/>
            <a:ext cx="3606698" cy="5257800"/>
          </a:xfrm>
          <a:prstGeom prst="rect">
            <a:avLst/>
          </a:prstGeom>
          <a:solidFill>
            <a:srgbClr val="152440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9658" y="1353312"/>
            <a:ext cx="33323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2A"/>
                </a:solidFill>
                <a:latin typeface="Courier New"/>
              </a:rPr>
              <a:t>OFFICE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9658" y="1719072"/>
            <a:ext cx="3332378" cy="20116"/>
          </a:xfrm>
          <a:prstGeom prst="rect">
            <a:avLst/>
          </a:prstGeom>
          <a:solidFill>
            <a:srgbClr val="5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29658" y="1792224"/>
            <a:ext cx="333237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oleid   — risk flags (macros, exploit)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olevba  — full VBA macro source extraction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mraptor — auto-exec verdict</a:t>
            </a:r>
          </a:p>
          <a:p>
            <a:pPr algn="l"/>
            <a:endParaRPr sz="1200">
              <a:solidFill>
                <a:srgbClr val="F2F5FF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AI interprets: every macro deobfuscated,
download chain traced end-to-end,
C2 URL and dropper identified</a:t>
            </a:r>
          </a:p>
          <a:p>
            <a:pPr algn="l"/>
            <a:endParaRPr sz="1200">
              <a:solidFill>
                <a:srgbClr val="F2F5FF"/>
              </a:solidFill>
              <a:latin typeface="Calibri"/>
            </a:endParaRP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Verified: macro-downloader maldoc →
traced full download-drop-execute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3516" y="1261872"/>
            <a:ext cx="3606698" cy="5257800"/>
          </a:xfrm>
          <a:prstGeom prst="rect">
            <a:avLst/>
          </a:prstGeom>
          <a:solidFill>
            <a:srgbClr val="152440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0676" y="1353312"/>
            <a:ext cx="33323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2A"/>
                </a:solidFill>
                <a:latin typeface="Courier New"/>
              </a:rPr>
              <a:t>PDF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0676" y="1719072"/>
            <a:ext cx="3332378" cy="20116"/>
          </a:xfrm>
          <a:prstGeom prst="rect">
            <a:avLst/>
          </a:prstGeom>
          <a:solidFill>
            <a:srgbClr val="5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0676" y="1792224"/>
            <a:ext cx="333237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2F5FF"/>
                </a:solidFill>
                <a:latin typeface="Courier New"/>
              </a:rPr>
              <a:t>pikepdf — full object graph walk</a:t>
            </a:r>
          </a:p>
          <a:p>
            <a:pPr algn="l"/>
            <a:endParaRPr sz="1200">
              <a:solidFill>
                <a:srgbClr val="F2F5FF"/>
              </a:solidFill>
              <a:latin typeface="Courier New"/>
            </a:endParaRP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/JavaScript  → JS source extracted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/OpenAction  → auto-exec on open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/AA          → event triggers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/Launch      → OS command execution</a:t>
            </a: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/EmbeddedFile→ payload carrier</a:t>
            </a:r>
          </a:p>
          <a:p>
            <a:pPr algn="l"/>
            <a:endParaRPr sz="1200">
              <a:solidFill>
                <a:srgbClr val="F2F5FF"/>
              </a:solidFill>
              <a:latin typeface="Calibri"/>
            </a:endParaRPr>
          </a:p>
          <a:p>
            <a:pPr algn="l"/>
            <a:r>
              <a:rPr sz="1200">
                <a:solidFill>
                  <a:srgbClr val="F2F5FF"/>
                </a:solidFill>
                <a:latin typeface="Calibri"/>
              </a:rPr>
              <a:t>AI deobfuscates JS, traces exploit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1D2A"/>
                </a:solidFill>
                <a:latin typeface="Calibri"/>
              </a:rPr>
              <a:t>PHASE DEEP-DIVE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Dynamic Analysis — Live Detonation + AI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5303520" cy="5257800"/>
          </a:xfrm>
          <a:prstGeom prst="rect">
            <a:avLst/>
          </a:prstGeom>
          <a:solidFill>
            <a:srgbClr val="15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1D2A"/>
                </a:solidFill>
                <a:latin typeface="Calibri"/>
              </a:rPr>
              <a:t>Cloud Sandbox Detonation (Triage)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28800"/>
            <a:ext cx="49011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2F5FF"/>
                </a:solidFill>
                <a:latin typeface="Calibri"/>
              </a:rPr>
              <a:t>Sample submitted to isolated cloud VM (Windows 10)</a:t>
            </a:r>
          </a:p>
          <a:p>
            <a:pPr algn="l"/>
            <a:r>
              <a:rPr sz="1300">
                <a:solidFill>
                  <a:srgbClr val="F2F5FF"/>
                </a:solidFill>
                <a:latin typeface="Calibri"/>
              </a:rPr>
              <a:t>Sandbox captures raw artifacts:</a:t>
            </a:r>
          </a:p>
          <a:p>
            <a:pPr algn="l"/>
            <a:r>
              <a:rPr sz="1300">
                <a:solidFill>
                  <a:srgbClr val="8B9CB3"/>
                </a:solidFill>
                <a:latin typeface="Courier New"/>
              </a:rPr>
              <a:t>   Process tree  — every process spawned</a:t>
            </a:r>
          </a:p>
          <a:p>
            <a:pPr algn="l"/>
            <a:r>
              <a:rPr sz="1300">
                <a:solidFill>
                  <a:srgbClr val="8B9CB3"/>
                </a:solidFill>
                <a:latin typeface="Courier New"/>
              </a:rPr>
              <a:t>   Network logs — DNS, HTTP, TLS connections</a:t>
            </a:r>
          </a:p>
          <a:p>
            <a:pPr algn="l"/>
            <a:r>
              <a:rPr sz="1300">
                <a:solidFill>
                  <a:srgbClr val="8B9CB3"/>
                </a:solidFill>
                <a:latin typeface="Courier New"/>
              </a:rPr>
              <a:t>   Registry ops — persistence keys written</a:t>
            </a:r>
          </a:p>
          <a:p>
            <a:pPr algn="l"/>
            <a:r>
              <a:rPr sz="1300">
                <a:solidFill>
                  <a:srgbClr val="8B9CB3"/>
                </a:solidFill>
                <a:latin typeface="Courier New"/>
              </a:rPr>
              <a:t>   File ops     — drops, modifications, encryption</a:t>
            </a:r>
          </a:p>
          <a:p>
            <a:pPr algn="l"/>
            <a:r>
              <a:rPr sz="1300">
                <a:solidFill>
                  <a:srgbClr val="8B9CB3"/>
                </a:solidFill>
                <a:latin typeface="Courier New"/>
              </a:rPr>
              <a:t>   Memory dumps — injected code, unpacked PE</a:t>
            </a:r>
          </a:p>
          <a:p>
            <a:pPr algn="l"/>
            <a:r>
              <a:rPr sz="1300">
                <a:solidFill>
                  <a:srgbClr val="8B9CB3"/>
                </a:solidFill>
                <a:latin typeface="Courier New"/>
              </a:rPr>
              <a:t>   Screenshots  — screen state during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440680"/>
            <a:ext cx="4937760" cy="20116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5321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Claude reads ALL artifacts — raw text, not a summary.
It reaches its own verdict BEFORE comparing to sandbox.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61872"/>
            <a:ext cx="5836615" cy="5257800"/>
          </a:xfrm>
          <a:prstGeom prst="rect">
            <a:avLst/>
          </a:prstGeom>
          <a:solidFill>
            <a:srgbClr val="1C080B"/>
          </a:solidFill>
          <a:ln w="2032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417320"/>
            <a:ext cx="5470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1D2A"/>
                </a:solidFill>
                <a:latin typeface="Courier New"/>
              </a:rPr>
              <a:t>AI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5470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5FF"/>
                </a:solidFill>
                <a:latin typeface="Calibri"/>
              </a:rPr>
              <a:t>Claude reads the sandbox screenshots using multi-modal vision — not just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5470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CB3"/>
                </a:solidFill>
                <a:latin typeface="Calibri"/>
              </a:rPr>
              <a:t>Real example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926080"/>
            <a:ext cx="5470855" cy="1417320"/>
          </a:xfrm>
          <a:prstGeom prst="rect">
            <a:avLst/>
          </a:prstGeom>
          <a:solidFill>
            <a:srgbClr val="0F1A2E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017520"/>
            <a:ext cx="51965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CB3"/>
                </a:solidFill>
                <a:latin typeface="Courier New"/>
              </a:rPr>
              <a:t>"WannaCry ransom note visible on screen.
Full-screen HTML overlay with Bitcoin
wallet address extracted from screenshot."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572000"/>
            <a:ext cx="5470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Screenshots captured at 3 intervals
during replay — AI reads all of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5349240"/>
            <a:ext cx="5470855" cy="1051560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5673852"/>
            <a:ext cx="5470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WannaCry ransom screen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1D2A"/>
                </a:solidFill>
                <a:latin typeface="Calibri"/>
              </a:rPr>
              <a:t>PHASE DEEP-DIVE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Detection Engineering — Validated Rules, Live SIEM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3606698" cy="1920240"/>
          </a:xfrm>
          <a:prstGeom prst="rect">
            <a:avLst/>
          </a:prstGeom>
          <a:solidFill>
            <a:srgbClr val="152440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3323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2A"/>
                </a:solidFill>
                <a:latin typeface="Courier New"/>
              </a:rPr>
              <a:t>YARA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33323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CB3"/>
                </a:solidFill>
                <a:latin typeface="Calibri"/>
              </a:rPr>
              <a:t>File-based detection.
Anchor on decoded strings,
byte patterns, PE structure.
Compiled by yara-python.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261872"/>
            <a:ext cx="3606698" cy="1920240"/>
          </a:xfrm>
          <a:prstGeom prst="rect">
            <a:avLst/>
          </a:prstGeom>
          <a:solidFill>
            <a:srgbClr val="152440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9658" y="1353312"/>
            <a:ext cx="33323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2A"/>
                </a:solidFill>
                <a:latin typeface="Courier New"/>
              </a:rPr>
              <a:t>SIGMA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719072"/>
            <a:ext cx="33323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CB3"/>
                </a:solidFill>
                <a:latin typeface="Calibri"/>
              </a:rPr>
              <a:t>Log/behavior detection.
Process creation, network,
registry, file events.
Validated via pySigma.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3516" y="1261872"/>
            <a:ext cx="3606698" cy="1920240"/>
          </a:xfrm>
          <a:prstGeom prst="rect">
            <a:avLst/>
          </a:prstGeom>
          <a:solidFill>
            <a:srgbClr val="152440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0676" y="1353312"/>
            <a:ext cx="33323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2A"/>
                </a:solidFill>
                <a:latin typeface="Courier New"/>
              </a:rPr>
              <a:t>SURICATA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0676" y="1719072"/>
            <a:ext cx="33323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CB3"/>
                </a:solidFill>
                <a:latin typeface="Calibri"/>
              </a:rPr>
              <a:t>Network/C2 detection.
HTTP URIs, DNS patterns,
JA3/TLS, User-Agent.
Structural validation.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37560"/>
            <a:ext cx="5394960" cy="1828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337560"/>
            <a:ext cx="36576" cy="1828800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" y="3429000"/>
            <a:ext cx="5138928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A8D86E"/>
                </a:solidFill>
                <a:latin typeface="Courier New"/>
              </a:rPr>
              <a:t># Auto-generated YARA — VIPKeylogger Stealer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rule VIPKeylogger_AutoIt_Loader_Hollow {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strings: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  $s1 = "AutoIt" ascii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  $s2 = "WriteProcessMemory" ascii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condition: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  uint16(0) == 0x5A4D and all of them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337560"/>
            <a:ext cx="6217920" cy="1828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3337560"/>
            <a:ext cx="36576" cy="1828800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5624" y="3429000"/>
            <a:ext cx="5961888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A8D86E"/>
                </a:solidFill>
                <a:latin typeface="Courier New"/>
              </a:rPr>
              <a:t># Auto-generated Sigma — DNS C2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title: DNS C2 Check-in by VIPKeylogger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logsource: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product: windows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category: dns_query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detection: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selection: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  dns.question.name: checkip.amazonaws.com</a:t>
            </a:r>
          </a:p>
          <a:p>
            <a:pPr algn="l"/>
            <a:r>
              <a:rPr sz="1150">
                <a:solidFill>
                  <a:srgbClr val="F2F5FF"/>
                </a:solidFill>
                <a:latin typeface="Courier New"/>
              </a:rPr>
              <a:t>  condition: selection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257800"/>
            <a:ext cx="11368735" cy="1298448"/>
          </a:xfrm>
          <a:prstGeom prst="rect">
            <a:avLst/>
          </a:prstGeom>
          <a:solidFill>
            <a:srgbClr val="071424"/>
          </a:solidFill>
          <a:ln w="12700">
            <a:solidFill>
              <a:srgbClr val="1A4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3400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AFF"/>
                </a:solidFill>
                <a:latin typeface="Calibri"/>
              </a:rPr>
              <a:t>Elastic SIEM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42432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8B9CB3"/>
                </a:solidFill>
                <a:latin typeface="Calibri"/>
              </a:rPr>
              <a:t>▸  IOCs indexed in Elasticsearch (ECS threat.* fields) — immediately searchable</a:t>
            </a:r>
          </a:p>
          <a:p>
            <a:pPr algn="l"/>
            <a:r>
              <a:rPr sz="1250">
                <a:solidFill>
                  <a:srgbClr val="8B9CB3"/>
                </a:solidFill>
                <a:latin typeface="Calibri"/>
              </a:rPr>
              <a:t>▸  Sigma rules loaded as Kibana detection rules via Detections API (Sigma→KQL auto-translated)</a:t>
            </a:r>
          </a:p>
          <a:p>
            <a:pPr algn="l"/>
            <a:r>
              <a:rPr sz="1250">
                <a:solidFill>
                  <a:srgbClr val="8B9CB3"/>
                </a:solidFill>
                <a:latin typeface="Calibri"/>
              </a:rPr>
              <a:t>▸  Gate: BENIGN verdict → no rules generated (zero SIEM pollution)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Verdict System &amp; Safety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3606698" cy="2011680"/>
          </a:xfrm>
          <a:prstGeom prst="rect">
            <a:avLst/>
          </a:prstGeom>
          <a:solidFill>
            <a:srgbClr val="1C0608"/>
          </a:solidFill>
          <a:ln w="2032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32409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11D2A"/>
                </a:solidFill>
                <a:latin typeface="Courier New"/>
              </a:rPr>
              <a:t>MALICIOUS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4093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High confidence active threat.
IOCs pushed, rules deployed,
alert generated.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2498" y="1261872"/>
            <a:ext cx="3606698" cy="2011680"/>
          </a:xfrm>
          <a:prstGeom prst="rect">
            <a:avLst/>
          </a:prstGeom>
          <a:solidFill>
            <a:srgbClr val="1A1404"/>
          </a:solidFill>
          <a:ln w="2032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75378" y="1389888"/>
            <a:ext cx="32409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B800"/>
                </a:solidFill>
                <a:latin typeface="Courier New"/>
              </a:rPr>
              <a:t>SUSPICIOUS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1828800"/>
            <a:ext cx="324093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Warrants further review.
Rules generated at lower severity.
Flagged for analyst.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3516" y="1261872"/>
            <a:ext cx="3606698" cy="2011680"/>
          </a:xfrm>
          <a:prstGeom prst="rect">
            <a:avLst/>
          </a:prstGeom>
          <a:solidFill>
            <a:srgbClr val="04180D"/>
          </a:solidFill>
          <a:ln w="2032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56396" y="1389888"/>
            <a:ext cx="32409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Courier New"/>
              </a:rPr>
              <a:t>BENIGN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396" y="1828800"/>
            <a:ext cx="324093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No evidence of malicious intent.
No SIEM rules created.
Case file retained for audit.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56432"/>
            <a:ext cx="11368735" cy="402336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8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8B9CB3"/>
                </a:solidFill>
                <a:latin typeface="Calibri"/>
              </a:rPr>
              <a:t>Confidence only decreases downstream — unless a later phase adds genuinely new corroborating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50208"/>
            <a:ext cx="5592927" cy="1353312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2A"/>
                </a:solidFill>
                <a:latin typeface="Courier New"/>
              </a:rPr>
              <a:t>INERT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5318607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8B9CB3"/>
                </a:solidFill>
                <a:latin typeface="Calibri"/>
              </a:rPr>
              <a:t>▸  Malware never executed locally — ever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Stored as bytes: hash, store, submit only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Path traversal protection on all uploads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Size and file type limits enforced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394960"/>
            <a:ext cx="5592927" cy="1353312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2A"/>
                </a:solidFill>
                <a:latin typeface="Courier New"/>
              </a:rPr>
              <a:t>SAFE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79008"/>
            <a:ext cx="5318607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8B9CB3"/>
                </a:solidFill>
                <a:latin typeface="Calibri"/>
              </a:rPr>
              <a:t>▸  All human-facing IOCs are defanged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  hxxp://evil[.]com/payload.exe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Real values only in SIEM indices + rules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Secrets in .env — never in code or git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3950208"/>
            <a:ext cx="5592927" cy="1353312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4447" y="4041648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2A"/>
                </a:solidFill>
                <a:latin typeface="Courier New"/>
              </a:rPr>
              <a:t>HONEST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334256"/>
            <a:ext cx="5318607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8B9CB3"/>
                </a:solidFill>
                <a:latin typeface="Calibri"/>
              </a:rPr>
              <a:t>▸  AI disagrees with sandbox when evidence warrants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Caught forged timestamp: PE claimed to be from 2012,
  strings and imports proved otherwise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Confidence never inflated post-attribution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5394960"/>
            <a:ext cx="5592927" cy="1353312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4447" y="5486400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2A"/>
                </a:solidFill>
                <a:latin typeface="Courier New"/>
              </a:rPr>
              <a:t>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5779008"/>
            <a:ext cx="5318607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8B9CB3"/>
                </a:solidFill>
                <a:latin typeface="Calibri"/>
              </a:rPr>
              <a:t>▸  Full case file JSON retained per sample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Every phase's raw output preserved</a:t>
            </a:r>
          </a:p>
          <a:p>
            <a:r>
              <a:rPr sz="1150">
                <a:solidFill>
                  <a:srgbClr val="8B9CB3"/>
                </a:solidFill>
                <a:latin typeface="Calibri"/>
              </a:rPr>
              <a:t>▸  Extraction errors logged, not silently dropped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Proven on Real Malware — All Three File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3667658" cy="262890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339333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11D2A"/>
                </a:solidFill>
                <a:latin typeface="Courier New"/>
              </a:rPr>
              <a:t>PE BINARY
XWorm 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C2 protocol, persistence,
keylogger + screenshot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393338" cy="1239012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978658"/>
            <a:ext cx="339333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XWorm RAT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2018" y="1298448"/>
            <a:ext cx="3667658" cy="262890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99178" y="1408176"/>
            <a:ext cx="339333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11D2A"/>
                </a:solidFill>
                <a:latin typeface="Courier New"/>
              </a:rPr>
              <a:t>PE BINARY
VIPKeylogger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178" y="199339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AutoIt loader, process hollowing,
stealer chain traced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9178" y="2560320"/>
            <a:ext cx="3393338" cy="1239012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9178" y="2978658"/>
            <a:ext cx="339333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VIPKeylogger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2556" y="1298448"/>
            <a:ext cx="3667658" cy="262890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9716" y="1408176"/>
            <a:ext cx="339333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11D2A"/>
                </a:solidFill>
                <a:latin typeface="Courier New"/>
              </a:rPr>
              <a:t>PE BINARY
WannaCry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716" y="199339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Ransom note read via AI vision,
Bitcoin address extracted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9716" y="2560320"/>
            <a:ext cx="3393338" cy="1239012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9716" y="2978658"/>
            <a:ext cx="339333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WannaCry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10228"/>
            <a:ext cx="3667658" cy="262890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19956"/>
            <a:ext cx="339333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11D2A"/>
                </a:solidFill>
                <a:latin typeface="Courier New"/>
              </a:rPr>
              <a:t>OFFICE DOC
Macro Downloader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517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Full download-drop-execute
chain traced end-to-end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72100"/>
            <a:ext cx="3393338" cy="1239012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790438"/>
            <a:ext cx="339333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Macro Downloader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2018" y="4110228"/>
            <a:ext cx="3667658" cy="262890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99178" y="4219956"/>
            <a:ext cx="339333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11D2A"/>
                </a:solidFill>
                <a:latin typeface="Courier New"/>
              </a:rPr>
              <a:t>PDF
JS + Phishing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9178" y="480517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OpenAction deobfuscated,
URIs and Launch actions 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99178" y="5372100"/>
            <a:ext cx="3393338" cy="1239012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9178" y="5790438"/>
            <a:ext cx="339333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JS + Phishing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2556" y="4110228"/>
            <a:ext cx="3667658" cy="262890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9716" y="4219956"/>
            <a:ext cx="339333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11D2A"/>
                </a:solidFill>
                <a:latin typeface="Courier New"/>
              </a:rPr>
              <a:t>PE BINARY
AgentTesla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9716" y="4805172"/>
            <a:ext cx="339333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Credential stealer,
SMTP exfil to Gmail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9716" y="5372100"/>
            <a:ext cx="3393338" cy="1239012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49716" y="5790438"/>
            <a:ext cx="339333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AgentTesla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The Platform — Upload to SIEM in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7132320" cy="2286000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240280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Upload page — drag &amp; drop, file validation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703320"/>
            <a:ext cx="7132320" cy="2834640"/>
          </a:xfrm>
          <a:prstGeom prst="rect">
            <a:avLst/>
          </a:prstGeom>
          <a:solidFill>
            <a:srgbClr val="0F1A2E"/>
          </a:solidFill>
          <a:ln w="15240">
            <a:solidFill>
              <a:srgbClr val="8B9C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4919472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CB3"/>
                </a:solidFill>
                <a:latin typeface="Calibri"/>
              </a:rPr>
              <a:t>[ SCREENSHOT: Live analysis — 7 phases updating in real time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298448"/>
            <a:ext cx="4007815" cy="126873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389888"/>
            <a:ext cx="3733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2A"/>
                </a:solidFill>
                <a:latin typeface="Courier New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00784"/>
            <a:ext cx="3733495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PE · DOCX · DOCM · DOC · PDF
Drag-and-drop or browse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658618"/>
            <a:ext cx="4007815" cy="126873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750058"/>
            <a:ext cx="3733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2A"/>
                </a:solidFill>
                <a:latin typeface="Courier New"/>
              </a:rPr>
              <a:t>LIVE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060954"/>
            <a:ext cx="3733495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Watch all 7 phases run
in real time with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018788"/>
            <a:ext cx="4007815" cy="126873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4110228"/>
            <a:ext cx="3733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2A"/>
                </a:solidFill>
                <a:latin typeface="Courier New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421124"/>
            <a:ext cx="3733495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Executive summary +
full technical report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5378958"/>
            <a:ext cx="4007815" cy="126873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5470398"/>
            <a:ext cx="3733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2A"/>
                </a:solidFill>
                <a:latin typeface="Courier New"/>
              </a:rPr>
              <a:t>SIEM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781294"/>
            <a:ext cx="3733495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CB3"/>
                </a:solidFill>
                <a:latin typeface="Calibri"/>
              </a:rPr>
              <a:t>IOCs + detection rules
already in Elastic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3655466" cy="265176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33811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2A"/>
                </a:solidFill>
                <a:latin typeface="Courier New"/>
              </a:rPr>
              <a:t>ANALYSIS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33811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Claude Sonnet 4.6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338114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LLM acting as the analyst. Skills-based architecture: each phase loads a SKILL.md system prompt. No hardcoded analysis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8114" y="1298448"/>
            <a:ext cx="3655466" cy="265176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5274" y="1389888"/>
            <a:ext cx="33811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2A"/>
                </a:solidFill>
                <a:latin typeface="Courier New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5274" y="1664208"/>
            <a:ext cx="33811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Python · FastAPI · asyncio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274" y="2029968"/>
            <a:ext cx="338114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Async pipeline, streaming Claude responses, SQLite case storage (PostgreSQL-ready via DATABASE_URL swap).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4748" y="1298448"/>
            <a:ext cx="3655466" cy="265176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1908" y="1389888"/>
            <a:ext cx="33811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2A"/>
                </a:solidFill>
                <a:latin typeface="Courier New"/>
              </a:rPr>
              <a:t>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1908" y="1664208"/>
            <a:ext cx="33811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Triage Cloud (Hatching)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1908" y="2029968"/>
            <a:ext cx="338114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Windows 10 64-bit cloud VM. Raw artifact pull: process/network/registry/file/memory. Screenshots via Playwright replay.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87368"/>
            <a:ext cx="3655466" cy="265176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178808"/>
            <a:ext cx="33811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2A"/>
                </a:solidFill>
                <a:latin typeface="Courier New"/>
              </a:rPr>
              <a:t>STATIC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33811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pefile · FLOSS · DIE · capa · oletools · pikepdf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338114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Each tool produces raw structured output. Claude interprets — tools never reach a conclusion, only extract.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8114" y="4087368"/>
            <a:ext cx="3655466" cy="265176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05274" y="4178808"/>
            <a:ext cx="33811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2A"/>
                </a:solidFill>
                <a:latin typeface="Courier New"/>
              </a:rPr>
              <a:t>SIEM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5274" y="4453128"/>
            <a:ext cx="33811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Elasticsearch + Kibana (Elastic Stack)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5274" y="4818888"/>
            <a:ext cx="338114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ECS threat.* IOC indexing. Sigma→KQL translation via pySigma. Rules loaded via Kibana Detections API. Live alerts.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4748" y="4087368"/>
            <a:ext cx="3655466" cy="2651760"/>
          </a:xfrm>
          <a:prstGeom prst="rect">
            <a:avLst/>
          </a:prstGeom>
          <a:solidFill>
            <a:srgbClr val="152440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1908" y="4178808"/>
            <a:ext cx="33811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2A"/>
                </a:solidFill>
                <a:latin typeface="Courier New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1908" y="4453128"/>
            <a:ext cx="33811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React · Vite · Tailwind 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1908" y="4818888"/>
            <a:ext cx="338114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CB3"/>
                </a:solidFill>
                <a:latin typeface="Calibri"/>
              </a:rPr>
              <a:t>Upload page + real-time 7-phase analysis dashboard. SSE for live updates.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0055" y="91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11D2A"/>
                </a:solidFill>
                <a:latin typeface="Calibri"/>
              </a:rPr>
              <a:t>MALYTIC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5FF"/>
                </a:solidFill>
                <a:latin typeface="Calibri"/>
              </a:rPr>
              <a:t>Roadmap — From Prototype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68735" cy="27432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3667658" cy="5349240"/>
          </a:xfrm>
          <a:prstGeom prst="rect">
            <a:avLst/>
          </a:prstGeom>
          <a:solidFill>
            <a:srgbClr val="152440"/>
          </a:solidFill>
          <a:ln w="2032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NOW —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301898" cy="22860"/>
          </a:xfrm>
          <a:prstGeom prst="rect">
            <a:avLst/>
          </a:prstGeom>
          <a:solidFill>
            <a:srgbClr val="5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018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2F5FF"/>
                </a:solidFill>
                <a:latin typeface="Calibri"/>
              </a:rPr>
              <a:t>▸  7-phase pipeline fully functional end-to-end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PE, Office, PDF analysis with real validation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Elastic SIEM integration live (IOCs + rules)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Tested on 6+ real malware families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React dashboard with live analysis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2018" y="1261872"/>
            <a:ext cx="3667658" cy="5349240"/>
          </a:xfrm>
          <a:prstGeom prst="rect">
            <a:avLst/>
          </a:prstGeom>
          <a:solidFill>
            <a:srgbClr val="152440"/>
          </a:solidFill>
          <a:ln w="20320">
            <a:solidFill>
              <a:srgbClr val="1A4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44898" y="13716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NEXT — PRODUCTION 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4898" y="1828800"/>
            <a:ext cx="3301898" cy="22860"/>
          </a:xfrm>
          <a:prstGeom prst="rect">
            <a:avLst/>
          </a:prstGeom>
          <a:solidFill>
            <a:srgbClr val="1A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4898" y="1920240"/>
            <a:ext cx="33018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2F5FF"/>
                </a:solidFill>
                <a:latin typeface="Calibri"/>
              </a:rPr>
              <a:t>▸  Triage API production account (replace Playwright bridge)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Persistent Elastic deployment (self-hosted or cloud)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PostgreSQL for multi-tenant case storage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Rate limiting, auth, API keys for team use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Automated regression testing on known 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556" y="1261872"/>
            <a:ext cx="3667658" cy="5349240"/>
          </a:xfrm>
          <a:prstGeom prst="rect">
            <a:avLst/>
          </a:prstGeom>
          <a:solidFill>
            <a:srgbClr val="152440"/>
          </a:solidFill>
          <a:ln w="20320">
            <a:solidFill>
              <a:srgbClr val="08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5436" y="13716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5FF"/>
                </a:solidFill>
                <a:latin typeface="Calibri"/>
              </a:rPr>
              <a:t>FUTURE —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95436" y="1828800"/>
            <a:ext cx="3301898" cy="22860"/>
          </a:xfrm>
          <a:prstGeom prst="rect">
            <a:avLst/>
          </a:prstGeom>
          <a:solidFill>
            <a:srgbClr val="084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5436" y="1920240"/>
            <a:ext cx="33018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2F5FF"/>
                </a:solidFill>
                <a:latin typeface="Calibri"/>
              </a:rPr>
              <a:t>▸  MCP tool refactor (each analysis tool as an MCP server)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More file types: ELF, APK, scripts (PS1/VBS/JS)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Cross-platform detonation (Linux, macOS sandbox profiles)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Threat actor graph (IOC clustering across cases)</a:t>
            </a:r>
          </a:p>
          <a:p>
            <a:r>
              <a:rPr sz="1300">
                <a:solidFill>
                  <a:srgbClr val="F2F5FF"/>
                </a:solidFill>
                <a:latin typeface="Calibri"/>
              </a:rPr>
              <a:t>▸  Analyst feedback loop — correct/confirm AI verdicts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" y="9144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" y="18288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" y="27432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" y="36576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" y="45720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" y="54864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" y="6400800"/>
            <a:ext cx="12136831" cy="4572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74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2F5FF"/>
                </a:solidFill>
                <a:latin typeface="Calibri"/>
              </a:rPr>
              <a:t>MALYTIC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8412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CB3"/>
                </a:solidFill>
                <a:latin typeface="Calibri"/>
              </a:rPr>
              <a:t>AI-Powered Malware Analysis &amp; Threat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61872"/>
            <a:ext cx="4754880" cy="36576"/>
          </a:xfrm>
          <a:prstGeom prst="rect">
            <a:avLst/>
          </a:prstGeom>
          <a:solidFill>
            <a:srgbClr val="E1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2705023" cy="219456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572768"/>
            <a:ext cx="24307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11D2A"/>
                </a:solidFill>
                <a:latin typeface="Calibri"/>
              </a:rPr>
              <a:t>Analyst-grade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24307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Claude reaches the same conclusions a senior malware analyst would — from the same raw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9383" y="1463040"/>
            <a:ext cx="2705023" cy="219456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36543" y="1572768"/>
            <a:ext cx="24307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11D2A"/>
                </a:solidFill>
                <a:latin typeface="Calibri"/>
              </a:rPr>
              <a:t>Consistent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6543" y="2103120"/>
            <a:ext cx="24307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Every sample gets the same rigorous treatment, regardless of analyst seniority or workload.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1463040"/>
            <a:ext cx="2705023" cy="219456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4447" y="1572768"/>
            <a:ext cx="24307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11D2A"/>
                </a:solidFill>
                <a:latin typeface="Calibri"/>
              </a:rPr>
              <a:t>End-to-end automated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2103120"/>
            <a:ext cx="24307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From upload to SIEM alert: no human in the loop for routine triage.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5191" y="1463040"/>
            <a:ext cx="2705023" cy="2194560"/>
          </a:xfrm>
          <a:prstGeom prst="rect">
            <a:avLst/>
          </a:prstGeom>
          <a:solidFill>
            <a:srgbClr val="0F1A2E"/>
          </a:solidFill>
          <a:ln w="1524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2351" y="1572768"/>
            <a:ext cx="243070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11D2A"/>
                </a:solidFill>
                <a:latin typeface="Calibri"/>
              </a:rPr>
              <a:t>Production-ready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2351" y="2103120"/>
            <a:ext cx="24307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CB3"/>
                </a:solidFill>
                <a:latin typeface="Calibri"/>
              </a:rPr>
              <a:t>Real validated rules, real SIEM integration, real malware proof.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40480"/>
            <a:ext cx="11368735" cy="822960"/>
          </a:xfrm>
          <a:prstGeom prst="rect">
            <a:avLst/>
          </a:prstGeom>
          <a:solidFill>
            <a:srgbClr val="1C080B"/>
          </a:solidFill>
          <a:ln w="20320">
            <a:solidFill>
              <a:srgbClr val="E11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2A"/>
                </a:solidFill>
                <a:latin typeface="Courier New"/>
              </a:rPr>
              <a:t>THE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931920"/>
            <a:ext cx="93570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5FF"/>
                </a:solidFill>
                <a:latin typeface="Calibri"/>
              </a:rPr>
              <a:t>Triage API production account  ·  Persistent Elastic environment  ·  A real malware corpus to validate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F5FF"/>
                </a:solidFill>
                <a:latin typeface="Calibri"/>
              </a:rPr>
              <a:t>Belal Qatoum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18464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CB3"/>
                </a:solidFill>
                <a:latin typeface="Calibri"/>
              </a:rPr>
              <a:t>big.qatoum@gmail.com  ·  CyberKnight TIA Internship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463040"/>
            <a:ext cx="2834640" cy="4114800"/>
          </a:xfrm>
          <a:prstGeom prst="rect">
            <a:avLst/>
          </a:prstGeom>
          <a:solidFill>
            <a:srgbClr val="0F1A2E"/>
          </a:solidFill>
          <a:ln w="10160">
            <a:solidFill>
              <a:srgbClr val="5C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22860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A3A5C"/>
                </a:solidFill>
                <a:latin typeface="Calibri"/>
              </a:rPr>
              <a:t>MALYTIC</a:t>
            </a:r>
          </a:p>
          <a:p>
            <a:pPr algn="ctr"/>
            <a:endParaRPr sz="3200" b="1">
              <a:solidFill>
                <a:srgbClr val="2A3A5C"/>
              </a:solidFill>
              <a:latin typeface="Calibri"/>
            </a:endParaRPr>
          </a:p>
          <a:p>
            <a:pPr algn="ctr"/>
            <a:r>
              <a:rPr sz="1300" b="0">
                <a:solidFill>
                  <a:srgbClr val="8B9CB3"/>
                </a:solidFill>
                <a:latin typeface="Calibri"/>
              </a:rPr>
              <a:t>From upload to SIEM alert.</a:t>
            </a:r>
          </a:p>
          <a:p>
            <a:pPr algn="ctr"/>
            <a:r>
              <a:rPr sz="1300" b="1">
                <a:solidFill>
                  <a:srgbClr val="8B9CB3"/>
                </a:solidFill>
                <a:latin typeface="Calibri"/>
              </a:rPr>
              <a:t>No human in the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3F7AD3-1C68-4C31-8E12-113F99B28A5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ed3064c7-eda8-4262-8632-0292af4570c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3849</Words>
  <Application>Microsoft Office PowerPoint</Application>
  <PresentationFormat>Widescreen</PresentationFormat>
  <Paragraphs>370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M Qatoum</cp:lastModifiedBy>
  <cp:revision>2</cp:revision>
  <dcterms:created xsi:type="dcterms:W3CDTF">2013-01-27T09:14:16Z</dcterms:created>
  <dcterms:modified xsi:type="dcterms:W3CDTF">2026-06-25T19:38:05Z</dcterms:modified>
  <cp:category/>
</cp:coreProperties>
</file>